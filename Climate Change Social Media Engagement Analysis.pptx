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21" autoAdjust="0"/>
    <p:restoredTop sz="94660"/>
  </p:normalViewPr>
  <p:slideViewPr>
    <p:cSldViewPr snapToGrid="0">
      <p:cViewPr varScale="1">
        <p:scale>
          <a:sx n="46" d="100"/>
          <a:sy n="46" d="100"/>
        </p:scale>
        <p:origin x="53" y="38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9005F-7AFB-B869-7FD5-BF4AEE35F7C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0727704-8C7C-F573-2276-C2CB1C1AB81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FB3B2DC-8E83-1194-53DB-DD9FE0BFC5BB}"/>
              </a:ext>
            </a:extLst>
          </p:cNvPr>
          <p:cNvSpPr>
            <a:spLocks noGrp="1"/>
          </p:cNvSpPr>
          <p:nvPr>
            <p:ph type="dt" sz="half" idx="10"/>
          </p:nvPr>
        </p:nvSpPr>
        <p:spPr/>
        <p:txBody>
          <a:bodyPr/>
          <a:lstStyle/>
          <a:p>
            <a:fld id="{3F9B15D4-A834-40A1-BD1B-67EC717BA22C}" type="datetimeFigureOut">
              <a:rPr lang="en-IN" smtClean="0"/>
              <a:t>28-12-2025</a:t>
            </a:fld>
            <a:endParaRPr lang="en-IN"/>
          </a:p>
        </p:txBody>
      </p:sp>
      <p:sp>
        <p:nvSpPr>
          <p:cNvPr id="5" name="Footer Placeholder 4">
            <a:extLst>
              <a:ext uri="{FF2B5EF4-FFF2-40B4-BE49-F238E27FC236}">
                <a16:creationId xmlns:a16="http://schemas.microsoft.com/office/drawing/2014/main" id="{360D7BD0-5E84-65BB-2D73-AFA96078A19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9749A79-AE73-8235-E3A7-6360598574AE}"/>
              </a:ext>
            </a:extLst>
          </p:cNvPr>
          <p:cNvSpPr>
            <a:spLocks noGrp="1"/>
          </p:cNvSpPr>
          <p:nvPr>
            <p:ph type="sldNum" sz="quarter" idx="12"/>
          </p:nvPr>
        </p:nvSpPr>
        <p:spPr/>
        <p:txBody>
          <a:bodyPr/>
          <a:lstStyle/>
          <a:p>
            <a:fld id="{63AC264F-E076-45F1-9019-7161DC0581F6}" type="slidenum">
              <a:rPr lang="en-IN" smtClean="0"/>
              <a:t>‹#›</a:t>
            </a:fld>
            <a:endParaRPr lang="en-IN"/>
          </a:p>
        </p:txBody>
      </p:sp>
    </p:spTree>
    <p:extLst>
      <p:ext uri="{BB962C8B-B14F-4D97-AF65-F5344CB8AC3E}">
        <p14:creationId xmlns:p14="http://schemas.microsoft.com/office/powerpoint/2010/main" val="1307389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E60936-D3F3-4CC2-E5AE-BF01C8B8AEE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AC51BD3-5A1C-35BE-B307-5C7AB1180F6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0F6590D-7368-766C-8509-7952339F4878}"/>
              </a:ext>
            </a:extLst>
          </p:cNvPr>
          <p:cNvSpPr>
            <a:spLocks noGrp="1"/>
          </p:cNvSpPr>
          <p:nvPr>
            <p:ph type="dt" sz="half" idx="10"/>
          </p:nvPr>
        </p:nvSpPr>
        <p:spPr/>
        <p:txBody>
          <a:bodyPr/>
          <a:lstStyle/>
          <a:p>
            <a:fld id="{3F9B15D4-A834-40A1-BD1B-67EC717BA22C}" type="datetimeFigureOut">
              <a:rPr lang="en-IN" smtClean="0"/>
              <a:t>28-12-2025</a:t>
            </a:fld>
            <a:endParaRPr lang="en-IN"/>
          </a:p>
        </p:txBody>
      </p:sp>
      <p:sp>
        <p:nvSpPr>
          <p:cNvPr id="5" name="Footer Placeholder 4">
            <a:extLst>
              <a:ext uri="{FF2B5EF4-FFF2-40B4-BE49-F238E27FC236}">
                <a16:creationId xmlns:a16="http://schemas.microsoft.com/office/drawing/2014/main" id="{D5A53BA2-F45B-24A0-C4E0-C40005FE223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F82DD4E-A761-43D7-77DF-3156EB5A95BE}"/>
              </a:ext>
            </a:extLst>
          </p:cNvPr>
          <p:cNvSpPr>
            <a:spLocks noGrp="1"/>
          </p:cNvSpPr>
          <p:nvPr>
            <p:ph type="sldNum" sz="quarter" idx="12"/>
          </p:nvPr>
        </p:nvSpPr>
        <p:spPr/>
        <p:txBody>
          <a:bodyPr/>
          <a:lstStyle/>
          <a:p>
            <a:fld id="{63AC264F-E076-45F1-9019-7161DC0581F6}" type="slidenum">
              <a:rPr lang="en-IN" smtClean="0"/>
              <a:t>‹#›</a:t>
            </a:fld>
            <a:endParaRPr lang="en-IN"/>
          </a:p>
        </p:txBody>
      </p:sp>
    </p:spTree>
    <p:extLst>
      <p:ext uri="{BB962C8B-B14F-4D97-AF65-F5344CB8AC3E}">
        <p14:creationId xmlns:p14="http://schemas.microsoft.com/office/powerpoint/2010/main" val="2688775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EEC46A-5EDA-7378-6C9E-C48B5F78DC9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18980A7-3473-0D3B-6443-A99772E791A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9F0480B-BB66-6BB7-DDA6-3F854EB71B63}"/>
              </a:ext>
            </a:extLst>
          </p:cNvPr>
          <p:cNvSpPr>
            <a:spLocks noGrp="1"/>
          </p:cNvSpPr>
          <p:nvPr>
            <p:ph type="dt" sz="half" idx="10"/>
          </p:nvPr>
        </p:nvSpPr>
        <p:spPr/>
        <p:txBody>
          <a:bodyPr/>
          <a:lstStyle/>
          <a:p>
            <a:fld id="{3F9B15D4-A834-40A1-BD1B-67EC717BA22C}" type="datetimeFigureOut">
              <a:rPr lang="en-IN" smtClean="0"/>
              <a:t>28-12-2025</a:t>
            </a:fld>
            <a:endParaRPr lang="en-IN"/>
          </a:p>
        </p:txBody>
      </p:sp>
      <p:sp>
        <p:nvSpPr>
          <p:cNvPr id="5" name="Footer Placeholder 4">
            <a:extLst>
              <a:ext uri="{FF2B5EF4-FFF2-40B4-BE49-F238E27FC236}">
                <a16:creationId xmlns:a16="http://schemas.microsoft.com/office/drawing/2014/main" id="{7189B79B-0DFA-F278-D71D-38CD1E21C67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B0E4B18-E710-3892-ABB4-A51222B536EE}"/>
              </a:ext>
            </a:extLst>
          </p:cNvPr>
          <p:cNvSpPr>
            <a:spLocks noGrp="1"/>
          </p:cNvSpPr>
          <p:nvPr>
            <p:ph type="sldNum" sz="quarter" idx="12"/>
          </p:nvPr>
        </p:nvSpPr>
        <p:spPr/>
        <p:txBody>
          <a:bodyPr/>
          <a:lstStyle/>
          <a:p>
            <a:fld id="{63AC264F-E076-45F1-9019-7161DC0581F6}" type="slidenum">
              <a:rPr lang="en-IN" smtClean="0"/>
              <a:t>‹#›</a:t>
            </a:fld>
            <a:endParaRPr lang="en-IN"/>
          </a:p>
        </p:txBody>
      </p:sp>
    </p:spTree>
    <p:extLst>
      <p:ext uri="{BB962C8B-B14F-4D97-AF65-F5344CB8AC3E}">
        <p14:creationId xmlns:p14="http://schemas.microsoft.com/office/powerpoint/2010/main" val="39690783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8A7B5-B729-DF29-1ABC-864BADE4915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F97796F-BDE1-1260-7688-9623346C91C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784DB76-0008-9900-A029-21D12D97EA7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1BC89BF-67D9-FC57-4E87-E74EF9EC88B7}"/>
              </a:ext>
            </a:extLst>
          </p:cNvPr>
          <p:cNvSpPr>
            <a:spLocks noGrp="1"/>
          </p:cNvSpPr>
          <p:nvPr>
            <p:ph type="dt" sz="half" idx="10"/>
          </p:nvPr>
        </p:nvSpPr>
        <p:spPr/>
        <p:txBody>
          <a:bodyPr/>
          <a:lstStyle/>
          <a:p>
            <a:fld id="{3F9B15D4-A834-40A1-BD1B-67EC717BA22C}" type="datetimeFigureOut">
              <a:rPr lang="en-IN" smtClean="0"/>
              <a:t>28-12-2025</a:t>
            </a:fld>
            <a:endParaRPr lang="en-IN"/>
          </a:p>
        </p:txBody>
      </p:sp>
      <p:sp>
        <p:nvSpPr>
          <p:cNvPr id="6" name="Footer Placeholder 5">
            <a:extLst>
              <a:ext uri="{FF2B5EF4-FFF2-40B4-BE49-F238E27FC236}">
                <a16:creationId xmlns:a16="http://schemas.microsoft.com/office/drawing/2014/main" id="{B0E11C45-0661-C351-B488-511513A63D3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DCCCADF-BF35-D35F-C6FE-A8487724BF9E}"/>
              </a:ext>
            </a:extLst>
          </p:cNvPr>
          <p:cNvSpPr>
            <a:spLocks noGrp="1"/>
          </p:cNvSpPr>
          <p:nvPr>
            <p:ph type="sldNum" sz="quarter" idx="12"/>
          </p:nvPr>
        </p:nvSpPr>
        <p:spPr/>
        <p:txBody>
          <a:bodyPr/>
          <a:lstStyle/>
          <a:p>
            <a:fld id="{63AC264F-E076-45F1-9019-7161DC0581F6}" type="slidenum">
              <a:rPr lang="en-IN" smtClean="0"/>
              <a:t>‹#›</a:t>
            </a:fld>
            <a:endParaRPr lang="en-IN"/>
          </a:p>
        </p:txBody>
      </p:sp>
    </p:spTree>
    <p:extLst>
      <p:ext uri="{BB962C8B-B14F-4D97-AF65-F5344CB8AC3E}">
        <p14:creationId xmlns:p14="http://schemas.microsoft.com/office/powerpoint/2010/main" val="21731636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109195-5BA0-BFDD-BEDA-38A2CC2A823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DDC168F-ADD7-6092-47E5-64C696A5209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A57D041-265C-873E-4A21-82F662FA26A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0C8F782-C507-9CC1-503F-041C8B7E187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2008DDC-1A04-A529-5264-A8500D35F69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0D1A1AB-A830-9B77-50A3-529405E9452E}"/>
              </a:ext>
            </a:extLst>
          </p:cNvPr>
          <p:cNvSpPr>
            <a:spLocks noGrp="1"/>
          </p:cNvSpPr>
          <p:nvPr>
            <p:ph type="dt" sz="half" idx="10"/>
          </p:nvPr>
        </p:nvSpPr>
        <p:spPr/>
        <p:txBody>
          <a:bodyPr/>
          <a:lstStyle/>
          <a:p>
            <a:fld id="{3F9B15D4-A834-40A1-BD1B-67EC717BA22C}" type="datetimeFigureOut">
              <a:rPr lang="en-IN" smtClean="0"/>
              <a:t>28-12-2025</a:t>
            </a:fld>
            <a:endParaRPr lang="en-IN"/>
          </a:p>
        </p:txBody>
      </p:sp>
      <p:sp>
        <p:nvSpPr>
          <p:cNvPr id="8" name="Footer Placeholder 7">
            <a:extLst>
              <a:ext uri="{FF2B5EF4-FFF2-40B4-BE49-F238E27FC236}">
                <a16:creationId xmlns:a16="http://schemas.microsoft.com/office/drawing/2014/main" id="{2F463812-4961-C18C-2111-897949DA87C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2A2DE1C-2A09-A03D-5D10-F977B65D3588}"/>
              </a:ext>
            </a:extLst>
          </p:cNvPr>
          <p:cNvSpPr>
            <a:spLocks noGrp="1"/>
          </p:cNvSpPr>
          <p:nvPr>
            <p:ph type="sldNum" sz="quarter" idx="12"/>
          </p:nvPr>
        </p:nvSpPr>
        <p:spPr/>
        <p:txBody>
          <a:bodyPr/>
          <a:lstStyle/>
          <a:p>
            <a:fld id="{63AC264F-E076-45F1-9019-7161DC0581F6}" type="slidenum">
              <a:rPr lang="en-IN" smtClean="0"/>
              <a:t>‹#›</a:t>
            </a:fld>
            <a:endParaRPr lang="en-IN"/>
          </a:p>
        </p:txBody>
      </p:sp>
    </p:spTree>
    <p:extLst>
      <p:ext uri="{BB962C8B-B14F-4D97-AF65-F5344CB8AC3E}">
        <p14:creationId xmlns:p14="http://schemas.microsoft.com/office/powerpoint/2010/main" val="6178897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443EF3-B80C-95C2-D623-FA9477A67B2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A205B2E-A653-F83B-0C00-507A73EABD2D}"/>
              </a:ext>
            </a:extLst>
          </p:cNvPr>
          <p:cNvSpPr>
            <a:spLocks noGrp="1"/>
          </p:cNvSpPr>
          <p:nvPr>
            <p:ph type="dt" sz="half" idx="10"/>
          </p:nvPr>
        </p:nvSpPr>
        <p:spPr/>
        <p:txBody>
          <a:bodyPr/>
          <a:lstStyle/>
          <a:p>
            <a:fld id="{3F9B15D4-A834-40A1-BD1B-67EC717BA22C}" type="datetimeFigureOut">
              <a:rPr lang="en-IN" smtClean="0"/>
              <a:t>28-12-2025</a:t>
            </a:fld>
            <a:endParaRPr lang="en-IN"/>
          </a:p>
        </p:txBody>
      </p:sp>
      <p:sp>
        <p:nvSpPr>
          <p:cNvPr id="4" name="Footer Placeholder 3">
            <a:extLst>
              <a:ext uri="{FF2B5EF4-FFF2-40B4-BE49-F238E27FC236}">
                <a16:creationId xmlns:a16="http://schemas.microsoft.com/office/drawing/2014/main" id="{7E64885C-3F6C-3720-99F6-D597AC1EB27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761127E-C502-830F-BFD5-B751FD89441C}"/>
              </a:ext>
            </a:extLst>
          </p:cNvPr>
          <p:cNvSpPr>
            <a:spLocks noGrp="1"/>
          </p:cNvSpPr>
          <p:nvPr>
            <p:ph type="sldNum" sz="quarter" idx="12"/>
          </p:nvPr>
        </p:nvSpPr>
        <p:spPr/>
        <p:txBody>
          <a:bodyPr/>
          <a:lstStyle/>
          <a:p>
            <a:fld id="{63AC264F-E076-45F1-9019-7161DC0581F6}" type="slidenum">
              <a:rPr lang="en-IN" smtClean="0"/>
              <a:t>‹#›</a:t>
            </a:fld>
            <a:endParaRPr lang="en-IN"/>
          </a:p>
        </p:txBody>
      </p:sp>
    </p:spTree>
    <p:extLst>
      <p:ext uri="{BB962C8B-B14F-4D97-AF65-F5344CB8AC3E}">
        <p14:creationId xmlns:p14="http://schemas.microsoft.com/office/powerpoint/2010/main" val="24149569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F5105B1-8314-7930-D255-7C6948732A13}"/>
              </a:ext>
            </a:extLst>
          </p:cNvPr>
          <p:cNvSpPr>
            <a:spLocks noGrp="1"/>
          </p:cNvSpPr>
          <p:nvPr>
            <p:ph type="dt" sz="half" idx="10"/>
          </p:nvPr>
        </p:nvSpPr>
        <p:spPr/>
        <p:txBody>
          <a:bodyPr/>
          <a:lstStyle/>
          <a:p>
            <a:fld id="{3F9B15D4-A834-40A1-BD1B-67EC717BA22C}" type="datetimeFigureOut">
              <a:rPr lang="en-IN" smtClean="0"/>
              <a:t>28-12-2025</a:t>
            </a:fld>
            <a:endParaRPr lang="en-IN"/>
          </a:p>
        </p:txBody>
      </p:sp>
      <p:sp>
        <p:nvSpPr>
          <p:cNvPr id="3" name="Footer Placeholder 2">
            <a:extLst>
              <a:ext uri="{FF2B5EF4-FFF2-40B4-BE49-F238E27FC236}">
                <a16:creationId xmlns:a16="http://schemas.microsoft.com/office/drawing/2014/main" id="{F68C3DD2-FA3C-3E4B-E2B3-BD014069848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FFCA1B2-4679-059E-D7EE-F8D6C03F5904}"/>
              </a:ext>
            </a:extLst>
          </p:cNvPr>
          <p:cNvSpPr>
            <a:spLocks noGrp="1"/>
          </p:cNvSpPr>
          <p:nvPr>
            <p:ph type="sldNum" sz="quarter" idx="12"/>
          </p:nvPr>
        </p:nvSpPr>
        <p:spPr/>
        <p:txBody>
          <a:bodyPr/>
          <a:lstStyle/>
          <a:p>
            <a:fld id="{63AC264F-E076-45F1-9019-7161DC0581F6}" type="slidenum">
              <a:rPr lang="en-IN" smtClean="0"/>
              <a:t>‹#›</a:t>
            </a:fld>
            <a:endParaRPr lang="en-IN"/>
          </a:p>
        </p:txBody>
      </p:sp>
    </p:spTree>
    <p:extLst>
      <p:ext uri="{BB962C8B-B14F-4D97-AF65-F5344CB8AC3E}">
        <p14:creationId xmlns:p14="http://schemas.microsoft.com/office/powerpoint/2010/main" val="35822407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A3C86D-8980-3FE5-F199-677248CFEF5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026A98F-FF0A-EED9-57A5-853CC27B9E4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6ABFB04-8A86-751C-6196-6B2A94F04F4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11020FB-54D9-ACA9-2CDA-A6C5BF303EB6}"/>
              </a:ext>
            </a:extLst>
          </p:cNvPr>
          <p:cNvSpPr>
            <a:spLocks noGrp="1"/>
          </p:cNvSpPr>
          <p:nvPr>
            <p:ph type="dt" sz="half" idx="10"/>
          </p:nvPr>
        </p:nvSpPr>
        <p:spPr/>
        <p:txBody>
          <a:bodyPr/>
          <a:lstStyle/>
          <a:p>
            <a:fld id="{3F9B15D4-A834-40A1-BD1B-67EC717BA22C}" type="datetimeFigureOut">
              <a:rPr lang="en-IN" smtClean="0"/>
              <a:t>28-12-2025</a:t>
            </a:fld>
            <a:endParaRPr lang="en-IN"/>
          </a:p>
        </p:txBody>
      </p:sp>
      <p:sp>
        <p:nvSpPr>
          <p:cNvPr id="6" name="Footer Placeholder 5">
            <a:extLst>
              <a:ext uri="{FF2B5EF4-FFF2-40B4-BE49-F238E27FC236}">
                <a16:creationId xmlns:a16="http://schemas.microsoft.com/office/drawing/2014/main" id="{2E9EF14F-C835-D4BE-A96C-52513F61B25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70AF31A-1D52-3CB8-5B94-D2FBE2E3F73D}"/>
              </a:ext>
            </a:extLst>
          </p:cNvPr>
          <p:cNvSpPr>
            <a:spLocks noGrp="1"/>
          </p:cNvSpPr>
          <p:nvPr>
            <p:ph type="sldNum" sz="quarter" idx="12"/>
          </p:nvPr>
        </p:nvSpPr>
        <p:spPr/>
        <p:txBody>
          <a:bodyPr/>
          <a:lstStyle/>
          <a:p>
            <a:fld id="{63AC264F-E076-45F1-9019-7161DC0581F6}" type="slidenum">
              <a:rPr lang="en-IN" smtClean="0"/>
              <a:t>‹#›</a:t>
            </a:fld>
            <a:endParaRPr lang="en-IN"/>
          </a:p>
        </p:txBody>
      </p:sp>
    </p:spTree>
    <p:extLst>
      <p:ext uri="{BB962C8B-B14F-4D97-AF65-F5344CB8AC3E}">
        <p14:creationId xmlns:p14="http://schemas.microsoft.com/office/powerpoint/2010/main" val="3456110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D36EF2-8F69-9AA5-6CF5-F14D78A4469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B379559-5365-8245-29E6-87B6616C536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F8049E7-4933-56EC-266C-142176C22C1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16B0613-63FC-5B53-7EC8-01AB87E58FA9}"/>
              </a:ext>
            </a:extLst>
          </p:cNvPr>
          <p:cNvSpPr>
            <a:spLocks noGrp="1"/>
          </p:cNvSpPr>
          <p:nvPr>
            <p:ph type="dt" sz="half" idx="10"/>
          </p:nvPr>
        </p:nvSpPr>
        <p:spPr/>
        <p:txBody>
          <a:bodyPr/>
          <a:lstStyle/>
          <a:p>
            <a:fld id="{3F9B15D4-A834-40A1-BD1B-67EC717BA22C}" type="datetimeFigureOut">
              <a:rPr lang="en-IN" smtClean="0"/>
              <a:t>28-12-2025</a:t>
            </a:fld>
            <a:endParaRPr lang="en-IN"/>
          </a:p>
        </p:txBody>
      </p:sp>
      <p:sp>
        <p:nvSpPr>
          <p:cNvPr id="6" name="Footer Placeholder 5">
            <a:extLst>
              <a:ext uri="{FF2B5EF4-FFF2-40B4-BE49-F238E27FC236}">
                <a16:creationId xmlns:a16="http://schemas.microsoft.com/office/drawing/2014/main" id="{3B4CCC1F-C056-891B-348C-08DC5691CB3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0E4B92D-6DAE-0909-1A94-F78985F62E1A}"/>
              </a:ext>
            </a:extLst>
          </p:cNvPr>
          <p:cNvSpPr>
            <a:spLocks noGrp="1"/>
          </p:cNvSpPr>
          <p:nvPr>
            <p:ph type="sldNum" sz="quarter" idx="12"/>
          </p:nvPr>
        </p:nvSpPr>
        <p:spPr/>
        <p:txBody>
          <a:bodyPr/>
          <a:lstStyle/>
          <a:p>
            <a:fld id="{63AC264F-E076-45F1-9019-7161DC0581F6}" type="slidenum">
              <a:rPr lang="en-IN" smtClean="0"/>
              <a:t>‹#›</a:t>
            </a:fld>
            <a:endParaRPr lang="en-IN"/>
          </a:p>
        </p:txBody>
      </p:sp>
    </p:spTree>
    <p:extLst>
      <p:ext uri="{BB962C8B-B14F-4D97-AF65-F5344CB8AC3E}">
        <p14:creationId xmlns:p14="http://schemas.microsoft.com/office/powerpoint/2010/main" val="41095617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782A59-F8F7-8FFA-3FEE-850B6AD1421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BE61B69-84AE-194A-6A7A-F1FDBD7CD02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2664F3C-6697-C9A3-A7B4-711533511EF4}"/>
              </a:ext>
            </a:extLst>
          </p:cNvPr>
          <p:cNvSpPr>
            <a:spLocks noGrp="1"/>
          </p:cNvSpPr>
          <p:nvPr>
            <p:ph type="dt" sz="half" idx="10"/>
          </p:nvPr>
        </p:nvSpPr>
        <p:spPr/>
        <p:txBody>
          <a:bodyPr/>
          <a:lstStyle/>
          <a:p>
            <a:fld id="{3F9B15D4-A834-40A1-BD1B-67EC717BA22C}" type="datetimeFigureOut">
              <a:rPr lang="en-IN" smtClean="0"/>
              <a:t>28-12-2025</a:t>
            </a:fld>
            <a:endParaRPr lang="en-IN"/>
          </a:p>
        </p:txBody>
      </p:sp>
      <p:sp>
        <p:nvSpPr>
          <p:cNvPr id="5" name="Footer Placeholder 4">
            <a:extLst>
              <a:ext uri="{FF2B5EF4-FFF2-40B4-BE49-F238E27FC236}">
                <a16:creationId xmlns:a16="http://schemas.microsoft.com/office/drawing/2014/main" id="{1CF15C6F-1522-CC8C-1D21-71B3CF27D50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448D792-6D6C-F02E-8E43-05827FBA0571}"/>
              </a:ext>
            </a:extLst>
          </p:cNvPr>
          <p:cNvSpPr>
            <a:spLocks noGrp="1"/>
          </p:cNvSpPr>
          <p:nvPr>
            <p:ph type="sldNum" sz="quarter" idx="12"/>
          </p:nvPr>
        </p:nvSpPr>
        <p:spPr/>
        <p:txBody>
          <a:bodyPr/>
          <a:lstStyle/>
          <a:p>
            <a:fld id="{63AC264F-E076-45F1-9019-7161DC0581F6}" type="slidenum">
              <a:rPr lang="en-IN" smtClean="0"/>
              <a:t>‹#›</a:t>
            </a:fld>
            <a:endParaRPr lang="en-IN"/>
          </a:p>
        </p:txBody>
      </p:sp>
    </p:spTree>
    <p:extLst>
      <p:ext uri="{BB962C8B-B14F-4D97-AF65-F5344CB8AC3E}">
        <p14:creationId xmlns:p14="http://schemas.microsoft.com/office/powerpoint/2010/main" val="38416139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9936880-C3A2-95D4-F79A-A5758B9E01F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B3B6DCC-C4D9-399B-9DCD-D619A33E269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1237B0A-48C9-D451-1772-3DA58D6CF14C}"/>
              </a:ext>
            </a:extLst>
          </p:cNvPr>
          <p:cNvSpPr>
            <a:spLocks noGrp="1"/>
          </p:cNvSpPr>
          <p:nvPr>
            <p:ph type="dt" sz="half" idx="10"/>
          </p:nvPr>
        </p:nvSpPr>
        <p:spPr/>
        <p:txBody>
          <a:bodyPr/>
          <a:lstStyle/>
          <a:p>
            <a:fld id="{3F9B15D4-A834-40A1-BD1B-67EC717BA22C}" type="datetimeFigureOut">
              <a:rPr lang="en-IN" smtClean="0"/>
              <a:t>28-12-2025</a:t>
            </a:fld>
            <a:endParaRPr lang="en-IN"/>
          </a:p>
        </p:txBody>
      </p:sp>
      <p:sp>
        <p:nvSpPr>
          <p:cNvPr id="5" name="Footer Placeholder 4">
            <a:extLst>
              <a:ext uri="{FF2B5EF4-FFF2-40B4-BE49-F238E27FC236}">
                <a16:creationId xmlns:a16="http://schemas.microsoft.com/office/drawing/2014/main" id="{19DC82B7-26C3-3D10-0B29-C014F450760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517BAF2-BB47-3F72-738D-38D4953A4FA2}"/>
              </a:ext>
            </a:extLst>
          </p:cNvPr>
          <p:cNvSpPr>
            <a:spLocks noGrp="1"/>
          </p:cNvSpPr>
          <p:nvPr>
            <p:ph type="sldNum" sz="quarter" idx="12"/>
          </p:nvPr>
        </p:nvSpPr>
        <p:spPr/>
        <p:txBody>
          <a:bodyPr/>
          <a:lstStyle/>
          <a:p>
            <a:fld id="{63AC264F-E076-45F1-9019-7161DC0581F6}" type="slidenum">
              <a:rPr lang="en-IN" smtClean="0"/>
              <a:t>‹#›</a:t>
            </a:fld>
            <a:endParaRPr lang="en-IN"/>
          </a:p>
        </p:txBody>
      </p:sp>
    </p:spTree>
    <p:extLst>
      <p:ext uri="{BB962C8B-B14F-4D97-AF65-F5344CB8AC3E}">
        <p14:creationId xmlns:p14="http://schemas.microsoft.com/office/powerpoint/2010/main" val="19407312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E579548-E376-4FBC-AC80-208FDD01E95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368D3BD-8DBF-710A-F819-D705D7D6C55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6222271-20B8-8BBF-7EA6-B5A090217AC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F9B15D4-A834-40A1-BD1B-67EC717BA22C}" type="datetimeFigureOut">
              <a:rPr lang="en-IN" smtClean="0"/>
              <a:t>28-12-2025</a:t>
            </a:fld>
            <a:endParaRPr lang="en-IN"/>
          </a:p>
        </p:txBody>
      </p:sp>
      <p:sp>
        <p:nvSpPr>
          <p:cNvPr id="5" name="Footer Placeholder 4">
            <a:extLst>
              <a:ext uri="{FF2B5EF4-FFF2-40B4-BE49-F238E27FC236}">
                <a16:creationId xmlns:a16="http://schemas.microsoft.com/office/drawing/2014/main" id="{654882EA-2167-67BE-5014-F154A7DCBF2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EFBE3213-78F7-4826-4B56-BDFD41E0E6E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3AC264F-E076-45F1-9019-7161DC0581F6}" type="slidenum">
              <a:rPr lang="en-IN" smtClean="0"/>
              <a:t>‹#›</a:t>
            </a:fld>
            <a:endParaRPr lang="en-IN"/>
          </a:p>
        </p:txBody>
      </p:sp>
    </p:spTree>
    <p:extLst>
      <p:ext uri="{BB962C8B-B14F-4D97-AF65-F5344CB8AC3E}">
        <p14:creationId xmlns:p14="http://schemas.microsoft.com/office/powerpoint/2010/main" val="42292413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67258B-3659-74AC-8634-73ECF86FA449}"/>
              </a:ext>
            </a:extLst>
          </p:cNvPr>
          <p:cNvSpPr>
            <a:spLocks noGrp="1"/>
          </p:cNvSpPr>
          <p:nvPr>
            <p:ph type="ctrTitle"/>
          </p:nvPr>
        </p:nvSpPr>
        <p:spPr/>
        <p:txBody>
          <a:bodyPr/>
          <a:lstStyle/>
          <a:p>
            <a:r>
              <a:rPr lang="fr-FR" dirty="0"/>
              <a:t>🌍 Climate Change Social Media Engagement </a:t>
            </a:r>
            <a:r>
              <a:rPr lang="fr-FR" dirty="0" err="1"/>
              <a:t>Analysis</a:t>
            </a:r>
            <a:endParaRPr lang="en-IN" dirty="0"/>
          </a:p>
        </p:txBody>
      </p:sp>
      <p:sp>
        <p:nvSpPr>
          <p:cNvPr id="3" name="Subtitle 2">
            <a:extLst>
              <a:ext uri="{FF2B5EF4-FFF2-40B4-BE49-F238E27FC236}">
                <a16:creationId xmlns:a16="http://schemas.microsoft.com/office/drawing/2014/main" id="{98AEE9AB-B94D-10DE-D878-14DC60543BD3}"/>
              </a:ext>
            </a:extLst>
          </p:cNvPr>
          <p:cNvSpPr>
            <a:spLocks noGrp="1"/>
          </p:cNvSpPr>
          <p:nvPr>
            <p:ph type="subTitle" idx="1"/>
          </p:nvPr>
        </p:nvSpPr>
        <p:spPr/>
        <p:txBody>
          <a:bodyPr>
            <a:normAutofit lnSpcReduction="10000"/>
          </a:bodyPr>
          <a:lstStyle/>
          <a:p>
            <a:r>
              <a:rPr lang="en-IN" dirty="0"/>
              <a:t>Using NASA Climate Dataset</a:t>
            </a:r>
          </a:p>
          <a:p>
            <a:endParaRPr lang="en-IN" dirty="0"/>
          </a:p>
          <a:p>
            <a:r>
              <a:rPr lang="en-IN" dirty="0"/>
              <a:t>Project Report</a:t>
            </a:r>
          </a:p>
          <a:p>
            <a:r>
              <a:rPr lang="en-IN" dirty="0"/>
              <a:t>AFSANA SHAIKH</a:t>
            </a:r>
          </a:p>
        </p:txBody>
      </p:sp>
    </p:spTree>
    <p:extLst>
      <p:ext uri="{BB962C8B-B14F-4D97-AF65-F5344CB8AC3E}">
        <p14:creationId xmlns:p14="http://schemas.microsoft.com/office/powerpoint/2010/main" val="20333490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644A36-E991-3520-E12B-B62669BCB197}"/>
              </a:ext>
            </a:extLst>
          </p:cNvPr>
          <p:cNvSpPr>
            <a:spLocks noGrp="1"/>
          </p:cNvSpPr>
          <p:nvPr>
            <p:ph type="title"/>
          </p:nvPr>
        </p:nvSpPr>
        <p:spPr/>
        <p:txBody>
          <a:bodyPr/>
          <a:lstStyle/>
          <a:p>
            <a:pPr algn="ctr"/>
            <a:r>
              <a:rPr lang="en-IN" dirty="0"/>
              <a:t>Introduction</a:t>
            </a:r>
          </a:p>
        </p:txBody>
      </p:sp>
      <p:sp>
        <p:nvSpPr>
          <p:cNvPr id="3" name="Content Placeholder 2">
            <a:extLst>
              <a:ext uri="{FF2B5EF4-FFF2-40B4-BE49-F238E27FC236}">
                <a16:creationId xmlns:a16="http://schemas.microsoft.com/office/drawing/2014/main" id="{A23E9E93-71B3-6CC6-0C63-F8CB29310058}"/>
              </a:ext>
            </a:extLst>
          </p:cNvPr>
          <p:cNvSpPr>
            <a:spLocks noGrp="1"/>
          </p:cNvSpPr>
          <p:nvPr>
            <p:ph idx="1"/>
          </p:nvPr>
        </p:nvSpPr>
        <p:spPr/>
        <p:txBody>
          <a:bodyPr/>
          <a:lstStyle/>
          <a:p>
            <a:r>
              <a:rPr lang="en-US" dirty="0"/>
              <a:t>Climate change is one of the most critical global challenges of the modern era. Social media platforms play a significant role in spreading awareness, sharing scientific findings, and engaging the public in climate-related discussions. Organizations like NASA actively post climate-related content to educate people and promote environmental awareness.</a:t>
            </a:r>
          </a:p>
          <a:p>
            <a:r>
              <a:rPr lang="en-US" dirty="0"/>
              <a:t>This project focuses on analyzing climate-related social media posts and predicting user engagement in terms of likes. By applying data science and machine learning techniques, we aim to understand how textual content and user interaction affect engagement levels.</a:t>
            </a:r>
          </a:p>
        </p:txBody>
      </p:sp>
    </p:spTree>
    <p:extLst>
      <p:ext uri="{BB962C8B-B14F-4D97-AF65-F5344CB8AC3E}">
        <p14:creationId xmlns:p14="http://schemas.microsoft.com/office/powerpoint/2010/main" val="28940095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433BF0-030E-88B0-2424-D795F89C124E}"/>
              </a:ext>
            </a:extLst>
          </p:cNvPr>
          <p:cNvSpPr>
            <a:spLocks noGrp="1"/>
          </p:cNvSpPr>
          <p:nvPr>
            <p:ph type="title"/>
          </p:nvPr>
        </p:nvSpPr>
        <p:spPr/>
        <p:txBody>
          <a:bodyPr/>
          <a:lstStyle/>
          <a:p>
            <a:pPr algn="ctr"/>
            <a:r>
              <a:rPr lang="en-IN" dirty="0"/>
              <a:t>Problem Statement</a:t>
            </a:r>
          </a:p>
        </p:txBody>
      </p:sp>
      <p:sp>
        <p:nvSpPr>
          <p:cNvPr id="3" name="Content Placeholder 2">
            <a:extLst>
              <a:ext uri="{FF2B5EF4-FFF2-40B4-BE49-F238E27FC236}">
                <a16:creationId xmlns:a16="http://schemas.microsoft.com/office/drawing/2014/main" id="{629750FC-8FF9-DD6E-BA59-0268161468C6}"/>
              </a:ext>
            </a:extLst>
          </p:cNvPr>
          <p:cNvSpPr>
            <a:spLocks noGrp="1"/>
          </p:cNvSpPr>
          <p:nvPr>
            <p:ph idx="1"/>
          </p:nvPr>
        </p:nvSpPr>
        <p:spPr/>
        <p:txBody>
          <a:bodyPr/>
          <a:lstStyle/>
          <a:p>
            <a:r>
              <a:rPr lang="en-US" dirty="0"/>
              <a:t>Despite the abundance of climate-related posts on social media, not all posts receive the same level of engagement. Understanding what factors influence engagement can help organizations improve communication strategies.</a:t>
            </a:r>
          </a:p>
          <a:p>
            <a:r>
              <a:rPr lang="en-US" b="1" dirty="0"/>
              <a:t>Problem Definition:</a:t>
            </a:r>
            <a:br>
              <a:rPr lang="en-US" dirty="0"/>
            </a:br>
            <a:r>
              <a:rPr lang="en-US" dirty="0"/>
              <a:t>To analyze climate-related social media posts and build a machine learning model that predicts the number of likes a post receives based on its content and interaction metrics.</a:t>
            </a:r>
          </a:p>
        </p:txBody>
      </p:sp>
    </p:spTree>
    <p:extLst>
      <p:ext uri="{BB962C8B-B14F-4D97-AF65-F5344CB8AC3E}">
        <p14:creationId xmlns:p14="http://schemas.microsoft.com/office/powerpoint/2010/main" val="12960582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802778-9C68-2B60-3162-566F29BB0E3B}"/>
              </a:ext>
            </a:extLst>
          </p:cNvPr>
          <p:cNvSpPr>
            <a:spLocks noGrp="1"/>
          </p:cNvSpPr>
          <p:nvPr>
            <p:ph type="title"/>
          </p:nvPr>
        </p:nvSpPr>
        <p:spPr/>
        <p:txBody>
          <a:bodyPr/>
          <a:lstStyle/>
          <a:p>
            <a:pPr algn="ctr"/>
            <a:r>
              <a:rPr lang="en-IN" dirty="0"/>
              <a:t>Objectives</a:t>
            </a:r>
          </a:p>
        </p:txBody>
      </p:sp>
      <p:sp>
        <p:nvSpPr>
          <p:cNvPr id="3" name="Content Placeholder 2">
            <a:extLst>
              <a:ext uri="{FF2B5EF4-FFF2-40B4-BE49-F238E27FC236}">
                <a16:creationId xmlns:a16="http://schemas.microsoft.com/office/drawing/2014/main" id="{BDF27963-77F9-BA43-633E-13F60879EDC7}"/>
              </a:ext>
            </a:extLst>
          </p:cNvPr>
          <p:cNvSpPr>
            <a:spLocks noGrp="1"/>
          </p:cNvSpPr>
          <p:nvPr>
            <p:ph idx="1"/>
          </p:nvPr>
        </p:nvSpPr>
        <p:spPr/>
        <p:txBody>
          <a:bodyPr/>
          <a:lstStyle/>
          <a:p>
            <a:pPr marL="0" indent="0">
              <a:buNone/>
            </a:pPr>
            <a:r>
              <a:rPr lang="en-US" dirty="0"/>
              <a:t>The main objectives of this project are:</a:t>
            </a:r>
          </a:p>
          <a:p>
            <a:r>
              <a:rPr lang="en-US" dirty="0"/>
              <a:t>To analyze climate-related social media data</a:t>
            </a:r>
          </a:p>
          <a:p>
            <a:r>
              <a:rPr lang="en-US" dirty="0"/>
              <a:t>To preprocess and clean textual data</a:t>
            </a:r>
          </a:p>
          <a:p>
            <a:r>
              <a:rPr lang="en-US" dirty="0"/>
              <a:t>To extract meaningful features using NLP techniques</a:t>
            </a:r>
          </a:p>
          <a:p>
            <a:r>
              <a:rPr lang="en-US" dirty="0"/>
              <a:t>To build a machine learning regression model</a:t>
            </a:r>
          </a:p>
          <a:p>
            <a:r>
              <a:rPr lang="en-US" dirty="0"/>
              <a:t>To evaluate the model’s performance</a:t>
            </a:r>
          </a:p>
          <a:p>
            <a:r>
              <a:rPr lang="en-US" dirty="0"/>
              <a:t>To visualize actual vs predicted engagement</a:t>
            </a:r>
          </a:p>
          <a:p>
            <a:endParaRPr lang="en-IN" dirty="0"/>
          </a:p>
        </p:txBody>
      </p:sp>
    </p:spTree>
    <p:extLst>
      <p:ext uri="{BB962C8B-B14F-4D97-AF65-F5344CB8AC3E}">
        <p14:creationId xmlns:p14="http://schemas.microsoft.com/office/powerpoint/2010/main" val="29148796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3BE4D-1E26-1FB9-68B5-B5DF23EC92ED}"/>
              </a:ext>
            </a:extLst>
          </p:cNvPr>
          <p:cNvSpPr>
            <a:spLocks noGrp="1"/>
          </p:cNvSpPr>
          <p:nvPr>
            <p:ph type="title"/>
          </p:nvPr>
        </p:nvSpPr>
        <p:spPr/>
        <p:txBody>
          <a:bodyPr/>
          <a:lstStyle/>
          <a:p>
            <a:pPr algn="ctr"/>
            <a:r>
              <a:rPr lang="en-IN" dirty="0"/>
              <a:t>Dataset Description</a:t>
            </a:r>
          </a:p>
        </p:txBody>
      </p:sp>
      <p:sp>
        <p:nvSpPr>
          <p:cNvPr id="3" name="Content Placeholder 2">
            <a:extLst>
              <a:ext uri="{FF2B5EF4-FFF2-40B4-BE49-F238E27FC236}">
                <a16:creationId xmlns:a16="http://schemas.microsoft.com/office/drawing/2014/main" id="{B7977B7D-58D4-9574-395A-E17F0C35D155}"/>
              </a:ext>
            </a:extLst>
          </p:cNvPr>
          <p:cNvSpPr>
            <a:spLocks noGrp="1"/>
          </p:cNvSpPr>
          <p:nvPr>
            <p:ph idx="1"/>
          </p:nvPr>
        </p:nvSpPr>
        <p:spPr>
          <a:xfrm>
            <a:off x="838200" y="1562793"/>
            <a:ext cx="10515600" cy="4930082"/>
          </a:xfrm>
        </p:spPr>
        <p:txBody>
          <a:bodyPr>
            <a:normAutofit fontScale="92500" lnSpcReduction="20000"/>
          </a:bodyPr>
          <a:lstStyle/>
          <a:p>
            <a:r>
              <a:rPr lang="en-US" dirty="0"/>
              <a:t>The dataset used in this project is sourced from </a:t>
            </a:r>
            <a:r>
              <a:rPr lang="en-US" b="1" dirty="0"/>
              <a:t>NASA climate-related social media posts</a:t>
            </a:r>
            <a:r>
              <a:rPr lang="en-US" dirty="0"/>
              <a:t>.</a:t>
            </a:r>
          </a:p>
          <a:p>
            <a:endParaRPr lang="en-US" dirty="0"/>
          </a:p>
          <a:p>
            <a:endParaRPr lang="en-US" dirty="0"/>
          </a:p>
          <a:p>
            <a:endParaRPr lang="en-US" dirty="0"/>
          </a:p>
          <a:p>
            <a:endParaRPr lang="en-US" dirty="0"/>
          </a:p>
          <a:p>
            <a:endParaRPr lang="en-US" dirty="0"/>
          </a:p>
          <a:p>
            <a:endParaRPr lang="en-IN" dirty="0"/>
          </a:p>
          <a:p>
            <a:endParaRPr lang="en-IN" dirty="0"/>
          </a:p>
          <a:p>
            <a:r>
              <a:rPr lang="en-IN" dirty="0"/>
              <a:t>Total Records : 522</a:t>
            </a:r>
          </a:p>
          <a:p>
            <a:r>
              <a:rPr lang="en-IN" dirty="0"/>
              <a:t>Data Type : Structured + Text data</a:t>
            </a:r>
          </a:p>
          <a:p>
            <a:r>
              <a:rPr lang="en-IN" dirty="0"/>
              <a:t>Target Variable : </a:t>
            </a:r>
            <a:r>
              <a:rPr lang="en-IN" dirty="0" err="1"/>
              <a:t>likesCount</a:t>
            </a:r>
            <a:endParaRPr lang="en-IN" dirty="0"/>
          </a:p>
        </p:txBody>
      </p:sp>
      <p:graphicFrame>
        <p:nvGraphicFramePr>
          <p:cNvPr id="6" name="Table 5">
            <a:extLst>
              <a:ext uri="{FF2B5EF4-FFF2-40B4-BE49-F238E27FC236}">
                <a16:creationId xmlns:a16="http://schemas.microsoft.com/office/drawing/2014/main" id="{0EF01301-12D4-3FB9-516E-8DE5675785E7}"/>
              </a:ext>
            </a:extLst>
          </p:cNvPr>
          <p:cNvGraphicFramePr>
            <a:graphicFrameLocks noGrp="1"/>
          </p:cNvGraphicFramePr>
          <p:nvPr>
            <p:extLst>
              <p:ext uri="{D42A27DB-BD31-4B8C-83A1-F6EECF244321}">
                <p14:modId xmlns:p14="http://schemas.microsoft.com/office/powerpoint/2010/main" val="2116417770"/>
              </p:ext>
            </p:extLst>
          </p:nvPr>
        </p:nvGraphicFramePr>
        <p:xfrm>
          <a:off x="1100975" y="2316480"/>
          <a:ext cx="8128000" cy="222504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600516777"/>
                    </a:ext>
                  </a:extLst>
                </a:gridCol>
                <a:gridCol w="4064000">
                  <a:extLst>
                    <a:ext uri="{9D8B030D-6E8A-4147-A177-3AD203B41FA5}">
                      <a16:colId xmlns:a16="http://schemas.microsoft.com/office/drawing/2014/main" val="573207006"/>
                    </a:ext>
                  </a:extLst>
                </a:gridCol>
              </a:tblGrid>
              <a:tr h="370840">
                <a:tc>
                  <a:txBody>
                    <a:bodyPr/>
                    <a:lstStyle/>
                    <a:p>
                      <a:r>
                        <a:rPr lang="en-US" dirty="0"/>
                        <a:t>Column Name</a:t>
                      </a:r>
                      <a:endParaRPr lang="en-IN" dirty="0"/>
                    </a:p>
                  </a:txBody>
                  <a:tcPr/>
                </a:tc>
                <a:tc>
                  <a:txBody>
                    <a:bodyPr/>
                    <a:lstStyle/>
                    <a:p>
                      <a:r>
                        <a:rPr lang="en-US" dirty="0"/>
                        <a:t>Description</a:t>
                      </a:r>
                      <a:endParaRPr lang="en-IN" dirty="0"/>
                    </a:p>
                  </a:txBody>
                  <a:tcPr/>
                </a:tc>
                <a:extLst>
                  <a:ext uri="{0D108BD9-81ED-4DB2-BD59-A6C34878D82A}">
                    <a16:rowId xmlns:a16="http://schemas.microsoft.com/office/drawing/2014/main" val="3001246813"/>
                  </a:ext>
                </a:extLst>
              </a:tr>
              <a:tr h="370840">
                <a:tc>
                  <a:txBody>
                    <a:bodyPr/>
                    <a:lstStyle/>
                    <a:p>
                      <a:r>
                        <a:rPr lang="en-US" dirty="0"/>
                        <a:t>date</a:t>
                      </a:r>
                      <a:endParaRPr lang="en-IN" dirty="0"/>
                    </a:p>
                  </a:txBody>
                  <a:tcPr/>
                </a:tc>
                <a:tc>
                  <a:txBody>
                    <a:bodyPr/>
                    <a:lstStyle/>
                    <a:p>
                      <a:r>
                        <a:rPr lang="en-US" dirty="0"/>
                        <a:t>Date and time of the post</a:t>
                      </a:r>
                      <a:endParaRPr lang="en-IN" dirty="0"/>
                    </a:p>
                  </a:txBody>
                  <a:tcPr/>
                </a:tc>
                <a:extLst>
                  <a:ext uri="{0D108BD9-81ED-4DB2-BD59-A6C34878D82A}">
                    <a16:rowId xmlns:a16="http://schemas.microsoft.com/office/drawing/2014/main" val="4284931920"/>
                  </a:ext>
                </a:extLst>
              </a:tr>
              <a:tr h="370840">
                <a:tc>
                  <a:txBody>
                    <a:bodyPr/>
                    <a:lstStyle/>
                    <a:p>
                      <a:r>
                        <a:rPr lang="en-US" dirty="0" err="1"/>
                        <a:t>profileName</a:t>
                      </a:r>
                      <a:endParaRPr lang="en-IN" dirty="0"/>
                    </a:p>
                  </a:txBody>
                  <a:tcPr/>
                </a:tc>
                <a:tc>
                  <a:txBody>
                    <a:bodyPr/>
                    <a:lstStyle/>
                    <a:p>
                      <a:r>
                        <a:rPr lang="en-US" dirty="0"/>
                        <a:t>Name of the posting profile</a:t>
                      </a:r>
                      <a:endParaRPr lang="en-IN" dirty="0"/>
                    </a:p>
                  </a:txBody>
                  <a:tcPr/>
                </a:tc>
                <a:extLst>
                  <a:ext uri="{0D108BD9-81ED-4DB2-BD59-A6C34878D82A}">
                    <a16:rowId xmlns:a16="http://schemas.microsoft.com/office/drawing/2014/main" val="3987326621"/>
                  </a:ext>
                </a:extLst>
              </a:tr>
              <a:tr h="370840">
                <a:tc>
                  <a:txBody>
                    <a:bodyPr/>
                    <a:lstStyle/>
                    <a:p>
                      <a:r>
                        <a:rPr lang="en-US" dirty="0"/>
                        <a:t>text</a:t>
                      </a:r>
                      <a:endParaRPr lang="en-IN" dirty="0"/>
                    </a:p>
                  </a:txBody>
                  <a:tcPr/>
                </a:tc>
                <a:tc>
                  <a:txBody>
                    <a:bodyPr/>
                    <a:lstStyle/>
                    <a:p>
                      <a:r>
                        <a:rPr lang="en-US" dirty="0"/>
                        <a:t>Content of the post</a:t>
                      </a:r>
                      <a:endParaRPr lang="en-IN" dirty="0"/>
                    </a:p>
                  </a:txBody>
                  <a:tcPr/>
                </a:tc>
                <a:extLst>
                  <a:ext uri="{0D108BD9-81ED-4DB2-BD59-A6C34878D82A}">
                    <a16:rowId xmlns:a16="http://schemas.microsoft.com/office/drawing/2014/main" val="2955643825"/>
                  </a:ext>
                </a:extLst>
              </a:tr>
              <a:tr h="370840">
                <a:tc>
                  <a:txBody>
                    <a:bodyPr/>
                    <a:lstStyle/>
                    <a:p>
                      <a:r>
                        <a:rPr lang="en-US" dirty="0" err="1"/>
                        <a:t>likesCount</a:t>
                      </a:r>
                      <a:endParaRPr lang="en-IN" dirty="0"/>
                    </a:p>
                  </a:txBody>
                  <a:tcPr/>
                </a:tc>
                <a:tc>
                  <a:txBody>
                    <a:bodyPr/>
                    <a:lstStyle/>
                    <a:p>
                      <a:r>
                        <a:rPr lang="en-US" dirty="0"/>
                        <a:t>Number of likes received</a:t>
                      </a:r>
                      <a:endParaRPr lang="en-IN" dirty="0"/>
                    </a:p>
                  </a:txBody>
                  <a:tcPr/>
                </a:tc>
                <a:extLst>
                  <a:ext uri="{0D108BD9-81ED-4DB2-BD59-A6C34878D82A}">
                    <a16:rowId xmlns:a16="http://schemas.microsoft.com/office/drawing/2014/main" val="1121938810"/>
                  </a:ext>
                </a:extLst>
              </a:tr>
              <a:tr h="370840">
                <a:tc>
                  <a:txBody>
                    <a:bodyPr/>
                    <a:lstStyle/>
                    <a:p>
                      <a:r>
                        <a:rPr lang="en-US" dirty="0" err="1"/>
                        <a:t>commentCount</a:t>
                      </a:r>
                      <a:endParaRPr lang="en-IN" dirty="0"/>
                    </a:p>
                  </a:txBody>
                  <a:tcPr/>
                </a:tc>
                <a:tc>
                  <a:txBody>
                    <a:bodyPr/>
                    <a:lstStyle/>
                    <a:p>
                      <a:r>
                        <a:rPr lang="en-US" dirty="0"/>
                        <a:t>Number of comments received</a:t>
                      </a:r>
                      <a:endParaRPr lang="en-IN" dirty="0"/>
                    </a:p>
                  </a:txBody>
                  <a:tcPr/>
                </a:tc>
                <a:extLst>
                  <a:ext uri="{0D108BD9-81ED-4DB2-BD59-A6C34878D82A}">
                    <a16:rowId xmlns:a16="http://schemas.microsoft.com/office/drawing/2014/main" val="2606235680"/>
                  </a:ext>
                </a:extLst>
              </a:tr>
            </a:tbl>
          </a:graphicData>
        </a:graphic>
      </p:graphicFrame>
    </p:spTree>
    <p:extLst>
      <p:ext uri="{BB962C8B-B14F-4D97-AF65-F5344CB8AC3E}">
        <p14:creationId xmlns:p14="http://schemas.microsoft.com/office/powerpoint/2010/main" val="28994788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3EBB37-A0B9-1778-789D-73DA6D847833}"/>
              </a:ext>
            </a:extLst>
          </p:cNvPr>
          <p:cNvSpPr>
            <a:spLocks noGrp="1"/>
          </p:cNvSpPr>
          <p:nvPr>
            <p:ph type="title"/>
          </p:nvPr>
        </p:nvSpPr>
        <p:spPr/>
        <p:txBody>
          <a:bodyPr/>
          <a:lstStyle/>
          <a:p>
            <a:pPr algn="ctr"/>
            <a:r>
              <a:rPr lang="en-IN" dirty="0"/>
              <a:t>Methodology</a:t>
            </a:r>
          </a:p>
        </p:txBody>
      </p:sp>
      <p:sp>
        <p:nvSpPr>
          <p:cNvPr id="3" name="Content Placeholder 2">
            <a:extLst>
              <a:ext uri="{FF2B5EF4-FFF2-40B4-BE49-F238E27FC236}">
                <a16:creationId xmlns:a16="http://schemas.microsoft.com/office/drawing/2014/main" id="{F28354E5-9458-5846-9E23-045332F57EE0}"/>
              </a:ext>
            </a:extLst>
          </p:cNvPr>
          <p:cNvSpPr>
            <a:spLocks noGrp="1"/>
          </p:cNvSpPr>
          <p:nvPr>
            <p:ph idx="1"/>
          </p:nvPr>
        </p:nvSpPr>
        <p:spPr/>
        <p:txBody>
          <a:bodyPr/>
          <a:lstStyle/>
          <a:p>
            <a:pPr marL="0" indent="0">
              <a:buNone/>
            </a:pPr>
            <a:r>
              <a:rPr lang="en-US" dirty="0"/>
              <a:t>The project follows a standard data science workflow:</a:t>
            </a:r>
          </a:p>
          <a:p>
            <a:r>
              <a:rPr lang="en-US" dirty="0"/>
              <a:t>Data Collection</a:t>
            </a:r>
          </a:p>
          <a:p>
            <a:r>
              <a:rPr lang="en-US" dirty="0"/>
              <a:t>Data Cleaning</a:t>
            </a:r>
          </a:p>
          <a:p>
            <a:r>
              <a:rPr lang="en-US" dirty="0"/>
              <a:t>Text Preprocessing</a:t>
            </a:r>
          </a:p>
          <a:p>
            <a:r>
              <a:rPr lang="en-US" dirty="0"/>
              <a:t>Feature Engineering</a:t>
            </a:r>
          </a:p>
          <a:p>
            <a:r>
              <a:rPr lang="en-US" dirty="0"/>
              <a:t>Model Building</a:t>
            </a:r>
          </a:p>
          <a:p>
            <a:r>
              <a:rPr lang="en-US" dirty="0"/>
              <a:t>Model Evaluation</a:t>
            </a:r>
          </a:p>
          <a:p>
            <a:r>
              <a:rPr lang="en-US" dirty="0"/>
              <a:t>Visualization</a:t>
            </a:r>
          </a:p>
        </p:txBody>
      </p:sp>
    </p:spTree>
    <p:extLst>
      <p:ext uri="{BB962C8B-B14F-4D97-AF65-F5344CB8AC3E}">
        <p14:creationId xmlns:p14="http://schemas.microsoft.com/office/powerpoint/2010/main" val="38756544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49DF8-309E-FB77-0A77-574E30C653E2}"/>
              </a:ext>
            </a:extLst>
          </p:cNvPr>
          <p:cNvSpPr>
            <a:spLocks noGrp="1"/>
          </p:cNvSpPr>
          <p:nvPr>
            <p:ph type="title"/>
          </p:nvPr>
        </p:nvSpPr>
        <p:spPr/>
        <p:txBody>
          <a:bodyPr/>
          <a:lstStyle/>
          <a:p>
            <a:pPr algn="ctr"/>
            <a:r>
              <a:rPr lang="en-IN" dirty="0"/>
              <a:t>Data Preprocessing</a:t>
            </a:r>
          </a:p>
        </p:txBody>
      </p:sp>
      <p:sp>
        <p:nvSpPr>
          <p:cNvPr id="3" name="Content Placeholder 2">
            <a:extLst>
              <a:ext uri="{FF2B5EF4-FFF2-40B4-BE49-F238E27FC236}">
                <a16:creationId xmlns:a16="http://schemas.microsoft.com/office/drawing/2014/main" id="{E44033D8-02A0-A2DB-783C-F39213ECCD72}"/>
              </a:ext>
            </a:extLst>
          </p:cNvPr>
          <p:cNvSpPr>
            <a:spLocks noGrp="1"/>
          </p:cNvSpPr>
          <p:nvPr>
            <p:ph idx="1"/>
          </p:nvPr>
        </p:nvSpPr>
        <p:spPr/>
        <p:txBody>
          <a:bodyPr>
            <a:normAutofit fontScale="92500" lnSpcReduction="20000"/>
          </a:bodyPr>
          <a:lstStyle/>
          <a:p>
            <a:pPr marL="0" indent="0">
              <a:buNone/>
            </a:pPr>
            <a:r>
              <a:rPr lang="en-US" b="1" dirty="0"/>
              <a:t>1 Handling Missing Values</a:t>
            </a:r>
          </a:p>
          <a:p>
            <a:r>
              <a:rPr lang="en-US" dirty="0"/>
              <a:t>Missing values in </a:t>
            </a:r>
            <a:r>
              <a:rPr lang="en-US" dirty="0" err="1"/>
              <a:t>commentsCount</a:t>
            </a:r>
            <a:r>
              <a:rPr lang="en-US" dirty="0"/>
              <a:t> were replaced with zero.</a:t>
            </a:r>
          </a:p>
          <a:p>
            <a:r>
              <a:rPr lang="en-US" dirty="0"/>
              <a:t>Rows with missing text or </a:t>
            </a:r>
            <a:r>
              <a:rPr lang="en-US" dirty="0" err="1"/>
              <a:t>likesCount</a:t>
            </a:r>
            <a:r>
              <a:rPr lang="en-US" dirty="0"/>
              <a:t> were removed.</a:t>
            </a:r>
          </a:p>
          <a:p>
            <a:pPr marL="0" indent="0">
              <a:buNone/>
            </a:pPr>
            <a:r>
              <a:rPr lang="en-US" b="1" dirty="0"/>
              <a:t> Text Cleaning</a:t>
            </a:r>
          </a:p>
          <a:p>
            <a:pPr marL="0" indent="0">
              <a:buNone/>
            </a:pPr>
            <a:r>
              <a:rPr lang="en-US" dirty="0"/>
              <a:t>The following preprocessing steps were applied to the text data:</a:t>
            </a:r>
          </a:p>
          <a:p>
            <a:r>
              <a:rPr lang="en-US" dirty="0"/>
              <a:t>Conversion to lowercase</a:t>
            </a:r>
          </a:p>
          <a:p>
            <a:r>
              <a:rPr lang="en-US" dirty="0"/>
              <a:t>Removal of URLs</a:t>
            </a:r>
          </a:p>
          <a:p>
            <a:r>
              <a:rPr lang="en-US" dirty="0"/>
              <a:t>Removal of special characters and numbers</a:t>
            </a:r>
          </a:p>
          <a:p>
            <a:r>
              <a:rPr lang="en-US" dirty="0"/>
              <a:t>Removal of </a:t>
            </a:r>
            <a:r>
              <a:rPr lang="en-US" dirty="0" err="1"/>
              <a:t>stopwords</a:t>
            </a:r>
            <a:r>
              <a:rPr lang="en-US" dirty="0"/>
              <a:t> (using NLTK)</a:t>
            </a:r>
          </a:p>
          <a:p>
            <a:r>
              <a:rPr lang="en-US" dirty="0"/>
              <a:t>This ensured that only meaningful words were retained for analysis.</a:t>
            </a:r>
          </a:p>
          <a:p>
            <a:endParaRPr lang="en-IN" dirty="0"/>
          </a:p>
        </p:txBody>
      </p:sp>
    </p:spTree>
    <p:extLst>
      <p:ext uri="{BB962C8B-B14F-4D97-AF65-F5344CB8AC3E}">
        <p14:creationId xmlns:p14="http://schemas.microsoft.com/office/powerpoint/2010/main" val="30181849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8EB289-7C7A-72C1-C41B-46B2CA3DB642}"/>
              </a:ext>
            </a:extLst>
          </p:cNvPr>
          <p:cNvSpPr>
            <a:spLocks noGrp="1"/>
          </p:cNvSpPr>
          <p:nvPr>
            <p:ph type="title"/>
          </p:nvPr>
        </p:nvSpPr>
        <p:spPr/>
        <p:txBody>
          <a:bodyPr/>
          <a:lstStyle/>
          <a:p>
            <a:pPr algn="ctr"/>
            <a:r>
              <a:rPr lang="en-IN" dirty="0"/>
              <a:t>Feature Engineering</a:t>
            </a:r>
          </a:p>
        </p:txBody>
      </p:sp>
      <p:sp>
        <p:nvSpPr>
          <p:cNvPr id="3" name="Content Placeholder 2">
            <a:extLst>
              <a:ext uri="{FF2B5EF4-FFF2-40B4-BE49-F238E27FC236}">
                <a16:creationId xmlns:a16="http://schemas.microsoft.com/office/drawing/2014/main" id="{0D8C8FD3-D7E1-5D4A-9C19-3BB516DAD140}"/>
              </a:ext>
            </a:extLst>
          </p:cNvPr>
          <p:cNvSpPr>
            <a:spLocks noGrp="1"/>
          </p:cNvSpPr>
          <p:nvPr>
            <p:ph idx="1"/>
          </p:nvPr>
        </p:nvSpPr>
        <p:spPr/>
        <p:txBody>
          <a:bodyPr/>
          <a:lstStyle/>
          <a:p>
            <a:pPr marL="0" indent="0">
              <a:buNone/>
            </a:pPr>
            <a:r>
              <a:rPr lang="en-US" dirty="0"/>
              <a:t>To convert text data into numerical format, </a:t>
            </a:r>
            <a:r>
              <a:rPr lang="en-US" b="1" dirty="0"/>
              <a:t>TF-IDF (Term Frequency–Inverse Document Frequency)</a:t>
            </a:r>
            <a:r>
              <a:rPr lang="en-US" dirty="0"/>
              <a:t> was used.</a:t>
            </a:r>
          </a:p>
          <a:p>
            <a:r>
              <a:rPr lang="en-US" dirty="0"/>
              <a:t>TF-IDF captures the importance of words in a document</a:t>
            </a:r>
          </a:p>
          <a:p>
            <a:r>
              <a:rPr lang="en-US" dirty="0"/>
              <a:t>Limited to 500 most relevant features</a:t>
            </a:r>
          </a:p>
          <a:p>
            <a:r>
              <a:rPr lang="en-US" dirty="0" err="1"/>
              <a:t>commentsCount</a:t>
            </a:r>
            <a:r>
              <a:rPr lang="en-US" dirty="0"/>
              <a:t> was added as a numerical feature</a:t>
            </a:r>
          </a:p>
          <a:p>
            <a:pPr marL="0" indent="0">
              <a:buNone/>
            </a:pPr>
            <a:r>
              <a:rPr lang="en-US" dirty="0"/>
              <a:t>Final features consisted of:</a:t>
            </a:r>
          </a:p>
          <a:p>
            <a:r>
              <a:rPr lang="en-US" dirty="0"/>
              <a:t>TF-IDF text vectors</a:t>
            </a:r>
          </a:p>
          <a:p>
            <a:r>
              <a:rPr lang="en-US" dirty="0"/>
              <a:t>Comment count values</a:t>
            </a:r>
          </a:p>
          <a:p>
            <a:endParaRPr lang="en-IN" dirty="0"/>
          </a:p>
        </p:txBody>
      </p:sp>
    </p:spTree>
    <p:extLst>
      <p:ext uri="{BB962C8B-B14F-4D97-AF65-F5344CB8AC3E}">
        <p14:creationId xmlns:p14="http://schemas.microsoft.com/office/powerpoint/2010/main" val="37087643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7AD997-173F-239A-7B68-6628704B2BF9}"/>
              </a:ext>
            </a:extLst>
          </p:cNvPr>
          <p:cNvSpPr>
            <a:spLocks noGrp="1"/>
          </p:cNvSpPr>
          <p:nvPr>
            <p:ph type="title"/>
          </p:nvPr>
        </p:nvSpPr>
        <p:spPr/>
        <p:txBody>
          <a:bodyPr/>
          <a:lstStyle/>
          <a:p>
            <a:pPr algn="ctr"/>
            <a:r>
              <a:rPr lang="en-IN" b="1" dirty="0"/>
              <a:t>Model Building</a:t>
            </a:r>
            <a:br>
              <a:rPr lang="en-IN" b="1" dirty="0"/>
            </a:br>
            <a:endParaRPr lang="en-IN" dirty="0"/>
          </a:p>
        </p:txBody>
      </p:sp>
      <p:sp>
        <p:nvSpPr>
          <p:cNvPr id="3" name="Content Placeholder 2">
            <a:extLst>
              <a:ext uri="{FF2B5EF4-FFF2-40B4-BE49-F238E27FC236}">
                <a16:creationId xmlns:a16="http://schemas.microsoft.com/office/drawing/2014/main" id="{645B5A7F-8A55-A575-87F0-CB00B43B5DA7}"/>
              </a:ext>
            </a:extLst>
          </p:cNvPr>
          <p:cNvSpPr>
            <a:spLocks noGrp="1"/>
          </p:cNvSpPr>
          <p:nvPr>
            <p:ph idx="1"/>
          </p:nvPr>
        </p:nvSpPr>
        <p:spPr>
          <a:xfrm>
            <a:off x="838200" y="1825625"/>
            <a:ext cx="10515600" cy="4667250"/>
          </a:xfrm>
        </p:spPr>
        <p:txBody>
          <a:bodyPr>
            <a:normAutofit fontScale="92500" lnSpcReduction="10000"/>
          </a:bodyPr>
          <a:lstStyle/>
          <a:p>
            <a:pPr marL="0" indent="0">
              <a:buNone/>
            </a:pPr>
            <a:r>
              <a:rPr lang="en-US" b="1" dirty="0"/>
              <a:t>Model Used</a:t>
            </a:r>
          </a:p>
          <a:p>
            <a:r>
              <a:rPr lang="en-US" b="1" dirty="0"/>
              <a:t>Linear Regression</a:t>
            </a:r>
          </a:p>
          <a:p>
            <a:pPr marL="0" indent="0">
              <a:buNone/>
            </a:pPr>
            <a:endParaRPr lang="en-US" dirty="0"/>
          </a:p>
          <a:p>
            <a:pPr marL="0" indent="0">
              <a:buNone/>
            </a:pPr>
            <a:r>
              <a:rPr lang="en-US" b="1" dirty="0"/>
              <a:t>Reason for Selection</a:t>
            </a:r>
          </a:p>
          <a:p>
            <a:r>
              <a:rPr lang="en-US" dirty="0"/>
              <a:t>Simple and interpretable</a:t>
            </a:r>
          </a:p>
          <a:p>
            <a:r>
              <a:rPr lang="en-US" dirty="0"/>
              <a:t>Suitable for regression problems</a:t>
            </a:r>
          </a:p>
          <a:p>
            <a:pPr marL="0" indent="0">
              <a:buNone/>
            </a:pPr>
            <a:endParaRPr lang="en-US" dirty="0"/>
          </a:p>
          <a:p>
            <a:pPr marL="0" indent="0">
              <a:buNone/>
            </a:pPr>
            <a:r>
              <a:rPr lang="en-US" b="1" dirty="0"/>
              <a:t>Train-Test Split</a:t>
            </a:r>
          </a:p>
          <a:p>
            <a:r>
              <a:rPr lang="en-US" dirty="0"/>
              <a:t>80% Training Data</a:t>
            </a:r>
          </a:p>
          <a:p>
            <a:r>
              <a:rPr lang="en-US" dirty="0"/>
              <a:t>20% Testing Data</a:t>
            </a:r>
          </a:p>
          <a:p>
            <a:endParaRPr lang="en-IN" dirty="0"/>
          </a:p>
        </p:txBody>
      </p:sp>
    </p:spTree>
    <p:extLst>
      <p:ext uri="{BB962C8B-B14F-4D97-AF65-F5344CB8AC3E}">
        <p14:creationId xmlns:p14="http://schemas.microsoft.com/office/powerpoint/2010/main" val="7767755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1B5866-C215-748D-2C6B-C7EC745FBD23}"/>
              </a:ext>
            </a:extLst>
          </p:cNvPr>
          <p:cNvSpPr>
            <a:spLocks noGrp="1"/>
          </p:cNvSpPr>
          <p:nvPr>
            <p:ph type="title"/>
          </p:nvPr>
        </p:nvSpPr>
        <p:spPr/>
        <p:txBody>
          <a:bodyPr/>
          <a:lstStyle/>
          <a:p>
            <a:pPr algn="ctr"/>
            <a:r>
              <a:rPr lang="en-IN" dirty="0"/>
              <a:t>Model Evaluation</a:t>
            </a:r>
          </a:p>
        </p:txBody>
      </p:sp>
      <p:sp>
        <p:nvSpPr>
          <p:cNvPr id="3" name="Content Placeholder 2">
            <a:extLst>
              <a:ext uri="{FF2B5EF4-FFF2-40B4-BE49-F238E27FC236}">
                <a16:creationId xmlns:a16="http://schemas.microsoft.com/office/drawing/2014/main" id="{5ADDB53A-22C0-11E9-75A8-DAD23DD3E0D0}"/>
              </a:ext>
            </a:extLst>
          </p:cNvPr>
          <p:cNvSpPr>
            <a:spLocks noGrp="1"/>
          </p:cNvSpPr>
          <p:nvPr>
            <p:ph idx="1"/>
          </p:nvPr>
        </p:nvSpPr>
        <p:spPr/>
        <p:txBody>
          <a:bodyPr/>
          <a:lstStyle/>
          <a:p>
            <a:pPr marL="0" indent="0">
              <a:buNone/>
            </a:pPr>
            <a:r>
              <a:rPr lang="en-US" dirty="0"/>
              <a:t>The model was evaluated using standard regression metrics:</a:t>
            </a:r>
          </a:p>
          <a:p>
            <a:r>
              <a:rPr lang="en-US" b="1" dirty="0"/>
              <a:t>Mean Absolute Error (MAE)</a:t>
            </a:r>
            <a:endParaRPr lang="en-US" dirty="0"/>
          </a:p>
          <a:p>
            <a:r>
              <a:rPr lang="en-US" b="1" dirty="0"/>
              <a:t>Mean Squared Error (MSE)</a:t>
            </a:r>
            <a:endParaRPr lang="en-US" dirty="0"/>
          </a:p>
          <a:p>
            <a:r>
              <a:rPr lang="en-US" b="1" dirty="0"/>
              <a:t>Root Mean Squared Error (RMSE)</a:t>
            </a:r>
            <a:endParaRPr lang="en-US" dirty="0"/>
          </a:p>
          <a:p>
            <a:r>
              <a:rPr lang="en-US" b="1" dirty="0"/>
              <a:t>R² Score</a:t>
            </a:r>
            <a:endParaRPr lang="en-US" dirty="0"/>
          </a:p>
          <a:p>
            <a:pPr marL="0" indent="0">
              <a:buNone/>
            </a:pPr>
            <a:r>
              <a:rPr lang="en-US" dirty="0"/>
              <a:t>These metrics helped assess how close the predicted likes were to the actual values.</a:t>
            </a:r>
          </a:p>
          <a:p>
            <a:endParaRPr lang="en-IN" dirty="0"/>
          </a:p>
        </p:txBody>
      </p:sp>
    </p:spTree>
    <p:extLst>
      <p:ext uri="{BB962C8B-B14F-4D97-AF65-F5344CB8AC3E}">
        <p14:creationId xmlns:p14="http://schemas.microsoft.com/office/powerpoint/2010/main" val="4659071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315E9F-B58E-5589-0B14-338A0EFDB642}"/>
              </a:ext>
            </a:extLst>
          </p:cNvPr>
          <p:cNvSpPr>
            <a:spLocks noGrp="1"/>
          </p:cNvSpPr>
          <p:nvPr>
            <p:ph type="title"/>
          </p:nvPr>
        </p:nvSpPr>
        <p:spPr/>
        <p:txBody>
          <a:bodyPr/>
          <a:lstStyle/>
          <a:p>
            <a:pPr algn="ctr"/>
            <a:r>
              <a:rPr lang="en-IN" dirty="0"/>
              <a:t>Results and Visualization</a:t>
            </a:r>
          </a:p>
        </p:txBody>
      </p:sp>
      <p:sp>
        <p:nvSpPr>
          <p:cNvPr id="3" name="Content Placeholder 2">
            <a:extLst>
              <a:ext uri="{FF2B5EF4-FFF2-40B4-BE49-F238E27FC236}">
                <a16:creationId xmlns:a16="http://schemas.microsoft.com/office/drawing/2014/main" id="{26DF6B3A-811D-1CF8-953C-832A229DBBF2}"/>
              </a:ext>
            </a:extLst>
          </p:cNvPr>
          <p:cNvSpPr>
            <a:spLocks noGrp="1"/>
          </p:cNvSpPr>
          <p:nvPr>
            <p:ph idx="1"/>
          </p:nvPr>
        </p:nvSpPr>
        <p:spPr/>
        <p:txBody>
          <a:bodyPr/>
          <a:lstStyle/>
          <a:p>
            <a:pPr marL="0" indent="0">
              <a:buNone/>
            </a:pPr>
            <a:r>
              <a:rPr lang="en-US" dirty="0"/>
              <a:t>A scatter plot was created comparing </a:t>
            </a:r>
            <a:r>
              <a:rPr lang="en-US" b="1" dirty="0"/>
              <a:t>Actual Likes vs Predicted Likes</a:t>
            </a:r>
            <a:r>
              <a:rPr lang="en-US" dirty="0"/>
              <a:t>.</a:t>
            </a:r>
          </a:p>
          <a:p>
            <a:pPr marL="0" indent="0">
              <a:buNone/>
            </a:pPr>
            <a:r>
              <a:rPr lang="en-US" b="1" dirty="0"/>
              <a:t>Observations:</a:t>
            </a:r>
          </a:p>
          <a:p>
            <a:r>
              <a:rPr lang="en-US" dirty="0"/>
              <a:t>The model was able to capture general engagement trends</a:t>
            </a:r>
          </a:p>
          <a:p>
            <a:r>
              <a:rPr lang="en-US" dirty="0"/>
              <a:t>Predictions were reasonably close for moderate engagement values</a:t>
            </a:r>
          </a:p>
          <a:p>
            <a:r>
              <a:rPr lang="en-US" dirty="0"/>
              <a:t>Some variance exists for very high engagement posts</a:t>
            </a:r>
          </a:p>
          <a:p>
            <a:endParaRPr lang="en-IN" dirty="0"/>
          </a:p>
        </p:txBody>
      </p:sp>
    </p:spTree>
    <p:extLst>
      <p:ext uri="{BB962C8B-B14F-4D97-AF65-F5344CB8AC3E}">
        <p14:creationId xmlns:p14="http://schemas.microsoft.com/office/powerpoint/2010/main" val="29040295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4EDE84-10EC-D46F-5D37-3ECA6545489C}"/>
              </a:ext>
            </a:extLst>
          </p:cNvPr>
          <p:cNvSpPr>
            <a:spLocks noGrp="1"/>
          </p:cNvSpPr>
          <p:nvPr>
            <p:ph type="title"/>
          </p:nvPr>
        </p:nvSpPr>
        <p:spPr/>
        <p:txBody>
          <a:bodyPr/>
          <a:lstStyle/>
          <a:p>
            <a:pPr algn="ctr"/>
            <a:r>
              <a:rPr lang="en-IN" dirty="0"/>
              <a:t>Conclusion</a:t>
            </a:r>
          </a:p>
        </p:txBody>
      </p:sp>
      <p:sp>
        <p:nvSpPr>
          <p:cNvPr id="3" name="Content Placeholder 2">
            <a:extLst>
              <a:ext uri="{FF2B5EF4-FFF2-40B4-BE49-F238E27FC236}">
                <a16:creationId xmlns:a16="http://schemas.microsoft.com/office/drawing/2014/main" id="{F46DA491-87D7-AB44-2F7F-F74308AEFF2E}"/>
              </a:ext>
            </a:extLst>
          </p:cNvPr>
          <p:cNvSpPr>
            <a:spLocks noGrp="1"/>
          </p:cNvSpPr>
          <p:nvPr>
            <p:ph idx="1"/>
          </p:nvPr>
        </p:nvSpPr>
        <p:spPr/>
        <p:txBody>
          <a:bodyPr/>
          <a:lstStyle/>
          <a:p>
            <a:r>
              <a:rPr lang="en-US" dirty="0"/>
              <a:t>This project successfully demonstrates how machine learning and natural language processing can be applied to analyze climate-related social media data. The Linear Regression model was able to predict engagement levels based on textual content and interaction metrics.</a:t>
            </a:r>
          </a:p>
          <a:p>
            <a:r>
              <a:rPr lang="en-US" dirty="0"/>
              <a:t>The project highlights the importance of content quality and user interaction in determining engagement and serves as a strong foundation for more advanced climate analytics projects.</a:t>
            </a:r>
          </a:p>
          <a:p>
            <a:pPr marL="0" indent="0">
              <a:buNone/>
            </a:pPr>
            <a:endParaRPr lang="en-IN" dirty="0"/>
          </a:p>
        </p:txBody>
      </p:sp>
    </p:spTree>
    <p:extLst>
      <p:ext uri="{BB962C8B-B14F-4D97-AF65-F5344CB8AC3E}">
        <p14:creationId xmlns:p14="http://schemas.microsoft.com/office/powerpoint/2010/main" val="5830294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8C958C-932E-554E-5B6B-F222E4BB96ED}"/>
              </a:ext>
            </a:extLst>
          </p:cNvPr>
          <p:cNvSpPr>
            <a:spLocks noGrp="1"/>
          </p:cNvSpPr>
          <p:nvPr>
            <p:ph type="title"/>
          </p:nvPr>
        </p:nvSpPr>
        <p:spPr/>
        <p:txBody>
          <a:bodyPr/>
          <a:lstStyle/>
          <a:p>
            <a:pPr algn="ctr"/>
            <a:r>
              <a:rPr lang="en-IN" dirty="0"/>
              <a:t>Future Scope</a:t>
            </a:r>
          </a:p>
        </p:txBody>
      </p:sp>
      <p:sp>
        <p:nvSpPr>
          <p:cNvPr id="3" name="Content Placeholder 2">
            <a:extLst>
              <a:ext uri="{FF2B5EF4-FFF2-40B4-BE49-F238E27FC236}">
                <a16:creationId xmlns:a16="http://schemas.microsoft.com/office/drawing/2014/main" id="{2A503340-3628-167E-3AA1-222D2B619378}"/>
              </a:ext>
            </a:extLst>
          </p:cNvPr>
          <p:cNvSpPr>
            <a:spLocks noGrp="1"/>
          </p:cNvSpPr>
          <p:nvPr>
            <p:ph idx="1"/>
          </p:nvPr>
        </p:nvSpPr>
        <p:spPr/>
        <p:txBody>
          <a:bodyPr/>
          <a:lstStyle/>
          <a:p>
            <a:pPr marL="0" indent="0">
              <a:buNone/>
            </a:pPr>
            <a:r>
              <a:rPr lang="en-US" dirty="0"/>
              <a:t>The project can be further enhanced by:</a:t>
            </a:r>
          </a:p>
          <a:p>
            <a:r>
              <a:rPr lang="en-US" dirty="0"/>
              <a:t>Using advanced models like Random Forest or </a:t>
            </a:r>
            <a:r>
              <a:rPr lang="en-US" dirty="0" err="1"/>
              <a:t>XGBoost</a:t>
            </a:r>
            <a:endParaRPr lang="en-US" dirty="0"/>
          </a:p>
          <a:p>
            <a:r>
              <a:rPr lang="en-US" dirty="0"/>
              <a:t>Performing sentiment analysis on posts</a:t>
            </a:r>
          </a:p>
          <a:p>
            <a:r>
              <a:rPr lang="en-US" dirty="0"/>
              <a:t>Classifying posts into high and low engagement</a:t>
            </a:r>
          </a:p>
          <a:p>
            <a:r>
              <a:rPr lang="en-US" dirty="0"/>
              <a:t>Adding time-series analysis for trend detection</a:t>
            </a:r>
          </a:p>
          <a:p>
            <a:r>
              <a:rPr lang="en-US" dirty="0"/>
              <a:t>Incorporating hashtags and user reach metrics</a:t>
            </a:r>
          </a:p>
          <a:p>
            <a:pPr marL="0" indent="0">
              <a:buNone/>
            </a:pPr>
            <a:endParaRPr lang="en-IN" dirty="0"/>
          </a:p>
        </p:txBody>
      </p:sp>
    </p:spTree>
    <p:extLst>
      <p:ext uri="{BB962C8B-B14F-4D97-AF65-F5344CB8AC3E}">
        <p14:creationId xmlns:p14="http://schemas.microsoft.com/office/powerpoint/2010/main" val="35930160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8A81A7-6433-A0EA-3CF6-2D90C46A8191}"/>
              </a:ext>
            </a:extLst>
          </p:cNvPr>
          <p:cNvSpPr>
            <a:spLocks noGrp="1"/>
          </p:cNvSpPr>
          <p:nvPr>
            <p:ph type="title"/>
          </p:nvPr>
        </p:nvSpPr>
        <p:spPr/>
        <p:txBody>
          <a:bodyPr/>
          <a:lstStyle/>
          <a:p>
            <a:pPr algn="ctr"/>
            <a:r>
              <a:rPr lang="en-IN" dirty="0"/>
              <a:t>Tools &amp; Technologies Used</a:t>
            </a:r>
          </a:p>
        </p:txBody>
      </p:sp>
      <p:sp>
        <p:nvSpPr>
          <p:cNvPr id="4" name="Rectangle 1">
            <a:extLst>
              <a:ext uri="{FF2B5EF4-FFF2-40B4-BE49-F238E27FC236}">
                <a16:creationId xmlns:a16="http://schemas.microsoft.com/office/drawing/2014/main" id="{F3247EA4-A5B8-CAE4-ECC5-C8F2AA88A344}"/>
              </a:ext>
            </a:extLst>
          </p:cNvPr>
          <p:cNvSpPr>
            <a:spLocks noGrp="1" noChangeArrowheads="1"/>
          </p:cNvSpPr>
          <p:nvPr>
            <p:ph idx="1"/>
          </p:nvPr>
        </p:nvSpPr>
        <p:spPr bwMode="auto">
          <a:xfrm>
            <a:off x="1453342" y="1690688"/>
            <a:ext cx="3754554"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kumimoji="0" lang="en-US" altLang="en-US" b="0" i="0" u="none" strike="noStrike" cap="none" normalizeH="0" baseline="0" dirty="0">
                <a:ln>
                  <a:noFill/>
                </a:ln>
                <a:solidFill>
                  <a:schemeClr val="tx1"/>
                </a:solidFill>
                <a:effectLst/>
                <a:latin typeface="Arial" panose="020B0604020202020204" pitchFamily="34" charset="0"/>
              </a:rPr>
              <a:t>Python</a:t>
            </a:r>
          </a:p>
          <a:p>
            <a:pPr eaLnBrk="0" fontAlgn="base" hangingPunct="0">
              <a:lnSpc>
                <a:spcPct val="100000"/>
              </a:lnSpc>
              <a:spcBef>
                <a:spcPct val="0"/>
              </a:spcBef>
              <a:spcAft>
                <a:spcPct val="0"/>
              </a:spcAft>
            </a:pPr>
            <a:r>
              <a:rPr kumimoji="0" lang="en-US" altLang="en-US" b="0" i="0" u="none" strike="noStrike" cap="none" normalizeH="0" baseline="0" dirty="0">
                <a:ln>
                  <a:noFill/>
                </a:ln>
                <a:solidFill>
                  <a:schemeClr val="tx1"/>
                </a:solidFill>
                <a:effectLst/>
                <a:latin typeface="Arial" panose="020B0604020202020204" pitchFamily="34" charset="0"/>
              </a:rPr>
              <a:t>Pandas &amp; NumPy</a:t>
            </a:r>
          </a:p>
          <a:p>
            <a:pPr eaLnBrk="0" fontAlgn="base" hangingPunct="0">
              <a:lnSpc>
                <a:spcPct val="100000"/>
              </a:lnSpc>
              <a:spcBef>
                <a:spcPct val="0"/>
              </a:spcBef>
              <a:spcAft>
                <a:spcPct val="0"/>
              </a:spcAft>
            </a:pPr>
            <a:r>
              <a:rPr kumimoji="0" lang="en-US" altLang="en-US" b="0" i="0" u="none" strike="noStrike" cap="none" normalizeH="0" baseline="0" dirty="0">
                <a:ln>
                  <a:noFill/>
                </a:ln>
                <a:solidFill>
                  <a:schemeClr val="tx1"/>
                </a:solidFill>
                <a:effectLst/>
                <a:latin typeface="Arial" panose="020B0604020202020204" pitchFamily="34" charset="0"/>
              </a:rPr>
              <a:t>Matplotlib &amp; Seaborn</a:t>
            </a:r>
          </a:p>
          <a:p>
            <a:pPr eaLnBrk="0" fontAlgn="base" hangingPunct="0">
              <a:lnSpc>
                <a:spcPct val="100000"/>
              </a:lnSpc>
              <a:spcBef>
                <a:spcPct val="0"/>
              </a:spcBef>
              <a:spcAft>
                <a:spcPct val="0"/>
              </a:spcAft>
            </a:pPr>
            <a:r>
              <a:rPr kumimoji="0" lang="en-US" altLang="en-US" b="0" i="0" u="none" strike="noStrike" cap="none" normalizeH="0" baseline="0" dirty="0">
                <a:ln>
                  <a:noFill/>
                </a:ln>
                <a:solidFill>
                  <a:schemeClr val="tx1"/>
                </a:solidFill>
                <a:effectLst/>
                <a:latin typeface="Arial" panose="020B0604020202020204" pitchFamily="34" charset="0"/>
              </a:rPr>
              <a:t>Scikit-learn</a:t>
            </a:r>
          </a:p>
          <a:p>
            <a:pPr eaLnBrk="0" fontAlgn="base" hangingPunct="0">
              <a:lnSpc>
                <a:spcPct val="100000"/>
              </a:lnSpc>
              <a:spcBef>
                <a:spcPct val="0"/>
              </a:spcBef>
              <a:spcAft>
                <a:spcPct val="0"/>
              </a:spcAft>
            </a:pPr>
            <a:r>
              <a:rPr kumimoji="0" lang="en-US" altLang="en-US" b="0" i="0" u="none" strike="noStrike" cap="none" normalizeH="0" baseline="0" dirty="0">
                <a:ln>
                  <a:noFill/>
                </a:ln>
                <a:solidFill>
                  <a:schemeClr val="tx1"/>
                </a:solidFill>
                <a:effectLst/>
                <a:latin typeface="Arial" panose="020B0604020202020204" pitchFamily="34" charset="0"/>
              </a:rPr>
              <a:t>NLTK</a:t>
            </a:r>
          </a:p>
          <a:p>
            <a:pPr eaLnBrk="0" fontAlgn="base" hangingPunct="0">
              <a:lnSpc>
                <a:spcPct val="100000"/>
              </a:lnSpc>
              <a:spcBef>
                <a:spcPct val="0"/>
              </a:spcBef>
              <a:spcAft>
                <a:spcPct val="0"/>
              </a:spcAft>
            </a:pPr>
            <a:r>
              <a:rPr kumimoji="0" lang="en-US" altLang="en-US" b="0" i="0" u="none" strike="noStrike" cap="none" normalizeH="0" baseline="0" dirty="0" err="1">
                <a:ln>
                  <a:noFill/>
                </a:ln>
                <a:solidFill>
                  <a:schemeClr val="tx1"/>
                </a:solidFill>
                <a:effectLst/>
                <a:latin typeface="Arial" panose="020B0604020202020204" pitchFamily="34" charset="0"/>
              </a:rPr>
              <a:t>Jupyter</a:t>
            </a:r>
            <a:r>
              <a:rPr kumimoji="0" lang="en-US" altLang="en-US" b="0" i="0" u="none" strike="noStrike" cap="none" normalizeH="0" baseline="0" dirty="0">
                <a:ln>
                  <a:noFill/>
                </a:ln>
                <a:solidFill>
                  <a:schemeClr val="tx1"/>
                </a:solidFill>
                <a:effectLst/>
                <a:latin typeface="Arial" panose="020B0604020202020204" pitchFamily="34" charset="0"/>
              </a:rPr>
              <a:t> Notebook</a:t>
            </a:r>
          </a:p>
        </p:txBody>
      </p:sp>
    </p:spTree>
    <p:extLst>
      <p:ext uri="{BB962C8B-B14F-4D97-AF65-F5344CB8AC3E}">
        <p14:creationId xmlns:p14="http://schemas.microsoft.com/office/powerpoint/2010/main" val="94414565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672</Words>
  <Application>Microsoft Office PowerPoint</Application>
  <PresentationFormat>Widescreen</PresentationFormat>
  <Paragraphs>112</Paragraphs>
  <Slides>14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Calibri Light</vt:lpstr>
      <vt:lpstr>Office Theme</vt:lpstr>
      <vt:lpstr>🌍 Climate Change Social Media Engagement Analysis</vt:lpstr>
      <vt:lpstr>Introduction</vt:lpstr>
      <vt:lpstr>Problem Statement</vt:lpstr>
      <vt:lpstr>Objectives</vt:lpstr>
      <vt:lpstr>Dataset Description</vt:lpstr>
      <vt:lpstr>Methodology</vt:lpstr>
      <vt:lpstr>Data Preprocessing</vt:lpstr>
      <vt:lpstr>Feature Engineering</vt:lpstr>
      <vt:lpstr>Model Building </vt:lpstr>
      <vt:lpstr>Model Evaluation</vt:lpstr>
      <vt:lpstr>Results and Visualization</vt:lpstr>
      <vt:lpstr>Conclusion</vt:lpstr>
      <vt:lpstr>Future Scope</vt:lpstr>
      <vt:lpstr>Tools &amp; Technologies Used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AFSANA</dc:creator>
  <cp:lastModifiedBy>AFSANA</cp:lastModifiedBy>
  <cp:revision>1</cp:revision>
  <dcterms:created xsi:type="dcterms:W3CDTF">2025-12-28T16:53:07Z</dcterms:created>
  <dcterms:modified xsi:type="dcterms:W3CDTF">2025-12-28T16:55:10Z</dcterms:modified>
</cp:coreProperties>
</file>